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A9C1F5"/>
                </a:solidFill>
              </a:rPr>
              <a:t>SPRING BOOT + MYBATIS DB 암호화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vault-crypto 기반
DB 컬럼 암호화 개발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9D6EA"/>
                </a:solidFill>
              </a:rPr>
              <a:t>KEK-DEK 봉투 암호화 · Blind Index · Redis 캐싱 · CRUD  —  demoApp users 테이블 예제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AAAC8"/>
                </a:solidFill>
              </a:rPr>
              <a:t>demoApp / vault-crypto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300" b="1">
                <a:solidFill>
                  <a:srgbClr val="A9C1F5"/>
                </a:solidFill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63040"/>
            <a:ext cx="5120640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50" b="1">
                <a:solidFill>
                  <a:srgbClr val="1B2A4A"/>
                </a:solidFill>
              </a:rPr>
              <a:t>0. 핵심 설계 원칙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633472"/>
            <a:ext cx="5120640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50" b="1">
                <a:solidFill>
                  <a:srgbClr val="1B2A4A"/>
                </a:solidFill>
              </a:rPr>
              <a:t>1. 사전 준비 - 의존성 · Vault · 설정 · 스키마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803904"/>
            <a:ext cx="5120640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50" b="1">
                <a:solidFill>
                  <a:srgbClr val="1B2A4A"/>
                </a:solidFill>
              </a:rPr>
              <a:t>2. 암호화 컬럼 CRUD 구현 방안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974336"/>
            <a:ext cx="5120640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50" b="1">
                <a:solidFill>
                  <a:srgbClr val="1B2A4A"/>
                </a:solidFill>
              </a:rPr>
              <a:t>3. 양방향 컬럼 조건 조회 - Blind Index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63040"/>
            <a:ext cx="5120640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50" b="1">
                <a:solidFill>
                  <a:srgbClr val="1B2A4A"/>
                </a:solidFill>
              </a:rPr>
              <a:t>4. 단방향 컬럼 조건 조회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633472"/>
            <a:ext cx="5120640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50" b="1">
                <a:solidFill>
                  <a:srgbClr val="1B2A4A"/>
                </a:solidFill>
              </a:rPr>
              <a:t>5. Redis 캐싱을 고려한 앱 구현 방안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803904"/>
            <a:ext cx="5120640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50" b="1">
                <a:solidFill>
                  <a:srgbClr val="1B2A4A"/>
                </a:solidFill>
              </a:rPr>
              <a:t>6. 테스트 작성법 (Vault 없이)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974336"/>
            <a:ext cx="5120640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50" b="1">
                <a:solidFill>
                  <a:srgbClr val="1B2A4A"/>
                </a:solidFill>
              </a:rPr>
              <a:t>7~9. 운영 주의사항 · 체크리스트 · 흔한 실수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300" b="1">
                <a:solidFill>
                  <a:srgbClr val="A9C1F5"/>
                </a:solidFill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이 가이드가 다루는 것 - users 테이블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1100297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대상 스택: Spring Boot 3.4 + MyBatis 3.5 + PostgreSQL + Redis + HashiCorp Vault(kv-v2) - demoApp과 동일한 개발환경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예제 DB 오브젝트: demoApp의 users 테이블 - 양방향/단방향 암호화 컬럼을 모두 보유해 예제로 적합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260604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438912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컬럼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방식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성격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users.password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BCrypt (PasswordHasher)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단방향 - 원문 복구 불가, 일치 여부만 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users.id_no / phone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AES-256-GCM 봉투 암호화</a:t>
                      </a:r>
                    </a:p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(EnvelopeCryptoService)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양방향 - decrypt()로 원문 복원 가능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*_blind_idx (2개)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HMAC-SHA256 (BlindIndexService)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양방향 컬럼의 검색 전용 결정적 인덱스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300" b="1">
                <a:solidFill>
                  <a:srgbClr val="A9C1F5"/>
                </a:solidFill>
              </a:rPr>
              <a:t>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0. 핵심 설계 원칙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1417320"/>
            <a:ext cx="502920" cy="502920"/>
          </a:xfrm>
          <a:prstGeom prst="ellipse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399032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222222"/>
                </a:solidFill>
              </a:rPr>
              <a:t>Service는 평문만 다룬다 - 암/복호화는 MyBatis TypeHandler가 Mapper 경계에서 투명하게 처리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2377440"/>
            <a:ext cx="502920" cy="502920"/>
          </a:xfrm>
          <a:prstGeom prst="ellipse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359152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222222"/>
                </a:solidFill>
              </a:rPr>
              <a:t>컬럼마다 "원문이 다시 필요한가"로 방식을 고른다 - 불필요: BCrypt / 필요: KEK-DEK 봉투 암호화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337560"/>
            <a:ext cx="502920" cy="502920"/>
          </a:xfrm>
          <a:prstGeom prst="ellipse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319272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222222"/>
                </a:solidFill>
              </a:rPr>
              <a:t>양방향 암호화 컬럼은 =/LIKE 검색이 원천적으로 불가능 - 매번 랜덤 IV라 같은 평문도 암호문이 다름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4297680"/>
            <a:ext cx="502920" cy="502920"/>
          </a:xfrm>
          <a:prstGeom prst="ellipse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79392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222222"/>
                </a:solidFill>
              </a:rPr>
              <a:t>레거시/비정형 데이터가 섞인 컬럼은 읽기 경로에 TypeHandler를 걸지 않는다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5257800"/>
            <a:ext cx="502920" cy="502920"/>
          </a:xfrm>
          <a:prstGeom prst="ellipse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239512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222222"/>
                </a:solidFill>
              </a:rPr>
              <a:t>캐시에는 절대 복호화된 평문을 올리지 않는다 - 캐시는 항상 ciphertext 상태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2331720"/>
            <a:ext cx="1371600" cy="1371600"/>
          </a:xfrm>
          <a:prstGeom prst="ellipse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2331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9C1F5"/>
                </a:solidFill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69748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사전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352044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C9D6EA"/>
                </a:solidFill>
              </a:rPr>
              <a:t>의존성 · Vault 키 구성 · application.properties · users 테이블 스키마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300" b="1">
                <a:solidFill>
                  <a:srgbClr val="A9C1F5"/>
                </a:solidFill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 사전 준비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1100297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222222"/>
                </a:solidFill>
              </a:rPr>
              <a:t>▸  Gradle 의존성: mybatis-spring-boot-starter, spring-cloud-starter-vault-config, com.xaan:vault-crypto, spring-boot-starter-data-redis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22222"/>
                </a:solidFill>
              </a:rPr>
              <a:t>▸  Vault kv-v2에 3종 키 저장</a:t>
            </a:r>
          </a:p>
          <a:p>
            <a:pPr lvl="1">
              <a:spcAft>
                <a:spcPts val="1000"/>
              </a:spcAft>
            </a:pPr>
            <a:r>
              <a:rPr sz="1300" b="0">
                <a:solidFill>
                  <a:srgbClr val="5A5A5A"/>
                </a:solidFill>
              </a:rPr>
              <a:t>-  KEK(마스터 키): ebiz_db/kek, kek-v1 + current-version</a:t>
            </a:r>
          </a:p>
          <a:p>
            <a:pPr lvl="1">
              <a:spcAft>
                <a:spcPts val="1000"/>
              </a:spcAft>
            </a:pPr>
            <a:r>
              <a:rPr sz="1300" b="0">
                <a:solidFill>
                  <a:srgbClr val="5A5A5A"/>
                </a:solidFill>
              </a:rPr>
              <a:t>-  도메인별 DEK(KEK로 wrap): ebiz_db/dek/user-pii, dek-v1 + current-version</a:t>
            </a:r>
          </a:p>
          <a:p>
            <a:pPr lvl="1">
              <a:spcAft>
                <a:spcPts val="1000"/>
              </a:spcAft>
            </a:pPr>
            <a:r>
              <a:rPr sz="1300" b="0">
                <a:solidFill>
                  <a:srgbClr val="5A5A5A"/>
                </a:solidFill>
              </a:rPr>
              <a:t>-  필드별 Blind Index 키(버전 없음): ebiz_db/blind-index/user-phone, user-rrn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22222"/>
                </a:solidFill>
              </a:rPr>
              <a:t>▸  application.properties: mybatis.configuration.map-underscore-to-camel-case=true 필수 - 없으면 snake_case 컬럼이 조용히 null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22222"/>
                </a:solidFill>
              </a:rPr>
              <a:t>▸  CryptoConfig: 도메인별 EnvelopeCryptoService 빈, 필드별 BlindIndexService 빈 - 앱 기동 시 1회만 DEK unwrap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22222"/>
                </a:solidFill>
              </a:rPr>
              <a:t>▸  MyBatis는 ddl-auto가 없다 - 스키마 변경은 migrations/00N_*.sql로 수동 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892040"/>
            <a:ext cx="10972800" cy="1600200"/>
          </a:xfrm>
          <a:prstGeom prst="roundRect">
            <a:avLst/>
          </a:prstGeom>
          <a:solidFill>
            <a:srgbClr val="1E1E2A"/>
          </a:solidFill>
          <a:ln w="9525">
            <a:solidFill>
              <a:srgbClr val="3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200">
                <a:solidFill>
                  <a:srgbClr val="D9E6FF"/>
                </a:solidFill>
                <a:latin typeface="Consolas"/>
              </a:rPr>
              <a:t>CREATE TABLE ebiz.users (</a:t>
            </a:r>
          </a:p>
          <a:p>
            <a:r>
              <a:rPr sz="1200">
                <a:solidFill>
                  <a:srgbClr val="D9E6FF"/>
                </a:solidFill>
                <a:latin typeface="Consolas"/>
              </a:rPr>
              <a:t>    id                BIGSERIAL PRIMARY KEY,</a:t>
            </a:r>
          </a:p>
          <a:p>
            <a:r>
              <a:rPr sz="1200">
                <a:solidFill>
                  <a:srgbClr val="D9E6FF"/>
                </a:solidFill>
                <a:latin typeface="Consolas"/>
              </a:rPr>
              <a:t>    user_id           VARCHAR(50) NOT NULL UNIQUE,  -- 평문</a:t>
            </a:r>
          </a:p>
          <a:p>
            <a:r>
              <a:rPr sz="1200">
                <a:solidFill>
                  <a:srgbClr val="D9E6FF"/>
                </a:solidFill>
                <a:latin typeface="Consolas"/>
              </a:rPr>
              <a:t>    password          VARCHAR(255) NOT NULL,         -- BCrypt (단방향)</a:t>
            </a:r>
          </a:p>
          <a:p>
            <a:r>
              <a:rPr sz="1200">
                <a:solidFill>
                  <a:srgbClr val="D9E6FF"/>
                </a:solidFill>
                <a:latin typeface="Consolas"/>
              </a:rPr>
              <a:t>    username          VARCHAR(100) NOT NULL,         -- 평문</a:t>
            </a:r>
          </a:p>
          <a:p>
            <a:r>
              <a:rPr sz="1200">
                <a:solidFill>
                  <a:srgbClr val="D9E6FF"/>
                </a:solidFill>
                <a:latin typeface="Consolas"/>
              </a:rPr>
              <a:t>    id_no             VARCHAR(255),                  -- AES-GCM 암호문 (양방향)</a:t>
            </a:r>
          </a:p>
          <a:p>
            <a:r>
              <a:rPr sz="1200">
                <a:solidFill>
                  <a:srgbClr val="D9E6FF"/>
                </a:solidFill>
                <a:latin typeface="Consolas"/>
              </a:rPr>
              <a:t>    id_no_blind_idx   VARCHAR(64),                    -- 검색용 HMAC</a:t>
            </a:r>
          </a:p>
          <a:p>
            <a:r>
              <a:rPr sz="1200">
                <a:solidFill>
                  <a:srgbClr val="D9E6FF"/>
                </a:solidFill>
                <a:latin typeface="Consolas"/>
              </a:rPr>
              <a:t>    phone             VARCHAR(255),</a:t>
            </a:r>
          </a:p>
          <a:p>
            <a:r>
              <a:rPr sz="1200">
                <a:solidFill>
                  <a:srgbClr val="D9E6FF"/>
                </a:solidFill>
                <a:latin typeface="Consolas"/>
              </a:rPr>
              <a:t>    phone_blind_idx   VARCHAR(64)</a:t>
            </a:r>
          </a:p>
          <a:p>
            <a:r>
              <a:rPr sz="1200">
                <a:solidFill>
                  <a:srgbClr val="D9E6FF"/>
                </a:solidFill>
                <a:latin typeface="Consolas"/>
              </a:rPr>
              <a:t>);</a:t>
            </a:r>
          </a:p>
          <a:p>
            <a:r>
              <a:rPr sz="1200">
                <a:solidFill>
                  <a:srgbClr val="D9E6FF"/>
                </a:solidFill>
                <a:latin typeface="Consolas"/>
              </a:rPr>
              <a:t>CREATE INDEX idx_users_phone_blind_idx ON ebiz.users (phone_blind_idx);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2331720"/>
            <a:ext cx="1371600" cy="1371600"/>
          </a:xfrm>
          <a:prstGeom prst="ellipse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2331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9C1F5"/>
                </a:solidFill>
              </a:rPr>
              <a:t>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69748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암호화 컬럼 CRUD 구현 방안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352044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C9D6EA"/>
                </a:solidFill>
              </a:rPr>
              <a:t>TypeHandler 설계부터 Create / Read / Update / Delete 패턴까지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300" b="1">
                <a:solidFill>
                  <a:srgbClr val="A9C1F5"/>
                </a:solidFill>
              </a:rPr>
              <a:t>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2. Create / Read 패턴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1100297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TypeHandler는 도메인마다 서브클래스 하나 - BaseTypeHandler 상속 금지(전체 String 컬럼 오염 사고 이력)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Create: 암호문 + Blind Index 컬럼을 같은 INSERT 문에서 함께 저장(원자성)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Read(단건): 레거시 없는 테이블이면 읽기 경로에도 TypeHandler 적용 가능 - 실패 시 예외로 알림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Read(목록): typeHandler 없이 raw 조회 + 행별 개별 복호화(fallback) - 한 행 실패가 전체를 죽이지 않도록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암호화 컬럼이 불필요한 조회(로그인 등)는 그 컬럼 자체를 select하지 않는 전용 메서드로 분리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300" b="1">
                <a:solidFill>
                  <a:srgbClr val="A9C1F5"/>
                </a:solidFill>
              </a:rPr>
              <a:t>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2. Update / Delete 패턴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1100297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22222"/>
                </a:solidFill>
              </a:rPr>
              <a:t>▸  값이 실제로 바뀔 때만 typeHandler 파라미터를 SQL에 포함 - 안 그러면 이중 암호화(복호화 불가)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2222"/>
                </a:solidFill>
              </a:rPr>
              <a:t>▸  Blind Index 대상 컬럼을 바꿀 때는 *_blind_idx도 같은 트랜잭션에서 함께 갱신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2222"/>
                </a:solidFill>
              </a:rPr>
              <a:t>▸  DEK 로테이션 재암호화 배치 등 "이미 암호문인 값 그대로 저장"은 typeHandler 없는 *Raw 메서드로 분리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2222"/>
                </a:solidFill>
              </a:rPr>
              <a:t>▸  Delete는 일반 DELETE와 동일 - 단, 캐시 무효화(@CacheEvict)와 감사로그에 평문 남기지 않기를 함께 고려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566160"/>
            <a:ext cx="10972800" cy="2468880"/>
          </a:xfrm>
          <a:prstGeom prst="roundRect">
            <a:avLst/>
          </a:prstGeom>
          <a:solidFill>
            <a:srgbClr val="1E1E2A"/>
          </a:solidFill>
          <a:ln w="9525">
            <a:solidFill>
              <a:srgbClr val="3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250">
                <a:solidFill>
                  <a:srgbClr val="D9E6FF"/>
                </a:solidFill>
                <a:latin typeface="Consolas"/>
              </a:rPr>
              <a:t>// username만 변경 - id_no/phone 컬럼은 SQL에서 아예 뺀다(이중 암호화 방지)</a:t>
            </a:r>
          </a:p>
          <a:p>
            <a:r>
              <a:rPr sz="1250">
                <a:solidFill>
                  <a:srgbClr val="D9E6FF"/>
                </a:solidFill>
                <a:latin typeface="Consolas"/>
              </a:rPr>
              <a:t>@Update("update users set username = #{username} where id = #{id}")</a:t>
            </a:r>
          </a:p>
          <a:p>
            <a:r>
              <a:rPr sz="1250">
                <a:solidFill>
                  <a:srgbClr val="D9E6FF"/>
                </a:solidFill>
                <a:latin typeface="Consolas"/>
              </a:rPr>
              <a:t>int updateUsername(@Param("id") Long id, @Param("username") String username);</a:t>
            </a:r>
          </a:p>
          <a:p>
            <a:r>
              <a:rPr sz="1250">
                <a:solidFill>
                  <a:srgbClr val="D9E6FF"/>
                </a:solidFill>
                <a:latin typeface="Consolas"/>
              </a:rPr>
              <a:t> </a:t>
            </a:r>
          </a:p>
          <a:p>
            <a:r>
              <a:rPr sz="1250">
                <a:solidFill>
                  <a:srgbClr val="D9E6FF"/>
                </a:solidFill>
                <a:latin typeface="Consolas"/>
              </a:rPr>
              <a:t>// phone 변경 - 암호문 + blind index를 함께 갱신</a:t>
            </a:r>
          </a:p>
          <a:p>
            <a:r>
              <a:rPr sz="1250">
                <a:solidFill>
                  <a:srgbClr val="D9E6FF"/>
                </a:solidFill>
                <a:latin typeface="Consolas"/>
              </a:rPr>
              <a:t>@Update("update users set phone = #{phone,typeHandler=...UserPiiTypeHandler}, " +</a:t>
            </a:r>
          </a:p>
          <a:p>
            <a:r>
              <a:rPr sz="1250">
                <a:solidFill>
                  <a:srgbClr val="D9E6FF"/>
                </a:solidFill>
                <a:latin typeface="Consolas"/>
              </a:rPr>
              <a:t>        "phone_blind_idx = #{phoneBlindIndex} where id = #{id}")</a:t>
            </a:r>
          </a:p>
          <a:p>
            <a:r>
              <a:rPr sz="1250">
                <a:solidFill>
                  <a:srgbClr val="D9E6FF"/>
                </a:solidFill>
                <a:latin typeface="Consolas"/>
              </a:rPr>
              <a:t>int updatePhone(@Param("id") Long id, @Param("phone") String phone,</a:t>
            </a:r>
          </a:p>
          <a:p>
            <a:r>
              <a:rPr sz="1250">
                <a:solidFill>
                  <a:srgbClr val="D9E6FF"/>
                </a:solidFill>
                <a:latin typeface="Consolas"/>
              </a:rPr>
              <a:t>                @Param("phoneBlindIndex") String phoneBlindIndex);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2331720"/>
            <a:ext cx="1371600" cy="1371600"/>
          </a:xfrm>
          <a:prstGeom prst="ellipse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2331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9C1F5"/>
                </a:solidFill>
              </a:rPr>
              <a:t>SEARCH · TWO-WAY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69748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양방향 암호화 컬럼 조건 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352044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C9D6EA"/>
                </a:solidFill>
              </a:rPr>
              <a:t>AES-GCM은 검색이 안 된다 - Blind Index(결정적 HMAC)로 정확 일치 검색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300" b="1">
                <a:solidFill>
                  <a:srgbClr val="A9C1F5"/>
                </a:solidFill>
              </a:rPr>
              <a:t>BLIND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 왜 WHERE phone = ? 이 안 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1100297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AES-GCM은 매 암호화마다 SecureRandom으로 새 IV를 생성 - 같은 평문도 암호문이 매번 다름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해결책: 키가 고정된 결정적 HMAC-SHA256(Blind Index)을 평문에 대해 계산, 암호문 옆 별도 컬럼에 저장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정확히 일치하는 값만 검색 가능(부분/LIKE 불가) - 컬럼(필드)마다 독립된 키, DEK/도메인과 무관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Blind Index 키는 로테이션 미지원 - 교체하려면 전체 재인덱싱 필요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저장 시점과 검색 시점의 정규화(하이픈 제거 등)가 다르면 조용히 매칭 실패 - 한 곳에서 통일 처리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300" b="1">
                <a:solidFill>
                  <a:srgbClr val="A9C1F5"/>
                </a:solidFill>
              </a:rPr>
              <a:t>BLIND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 저장 · 검색 구현 예제 (phone)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17320"/>
            <a:ext cx="10972800" cy="2743200"/>
          </a:xfrm>
          <a:prstGeom prst="roundRect">
            <a:avLst/>
          </a:prstGeom>
          <a:solidFill>
            <a:srgbClr val="1E1E2A"/>
          </a:solidFill>
          <a:ln w="9525">
            <a:solidFill>
              <a:srgbClr val="3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300">
                <a:solidFill>
                  <a:srgbClr val="D9E6FF"/>
                </a:solidFill>
                <a:latin typeface="Consolas"/>
              </a:rPr>
              <a:t>// 저장 - 정규화 후 암호화 값과 blind index를 함께 저장</a:t>
            </a:r>
          </a:p>
          <a:p>
            <a:r>
              <a:rPr sz="1300">
                <a:solidFill>
                  <a:srgbClr val="D9E6FF"/>
                </a:solidFill>
                <a:latin typeface="Consolas"/>
              </a:rPr>
              <a:t>String normalizedPhone = normalizePhone(dto.getPhone());     // 숫자만 남김</a:t>
            </a:r>
          </a:p>
          <a:p>
            <a:r>
              <a:rPr sz="1300">
                <a:solidFill>
                  <a:srgbClr val="D9E6FF"/>
                </a:solidFill>
                <a:latin typeface="Consolas"/>
              </a:rPr>
              <a:t>user.setPhone(normalizedPhone);                                // typeHandler가 암호화</a:t>
            </a:r>
          </a:p>
          <a:p>
            <a:r>
              <a:rPr sz="1300">
                <a:solidFill>
                  <a:srgbClr val="D9E6FF"/>
                </a:solidFill>
                <a:latin typeface="Consolas"/>
              </a:rPr>
              <a:t>user.setPhoneBlindIndex(passwordService.computePhoneBlindIndex(normalizedPhone));</a:t>
            </a:r>
          </a:p>
          <a:p>
            <a:r>
              <a:rPr sz="1300">
                <a:solidFill>
                  <a:srgbClr val="D9E6FF"/>
                </a:solidFill>
                <a:latin typeface="Consolas"/>
              </a:rPr>
              <a:t>userMapper.insert(user);</a:t>
            </a:r>
          </a:p>
          <a:p>
            <a:r>
              <a:rPr sz="1300">
                <a:solidFill>
                  <a:srgbClr val="D9E6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D9E6FF"/>
                </a:solidFill>
                <a:latin typeface="Consolas"/>
              </a:rPr>
              <a:t>// 검색 - 검색어를 같은 방식으로 정규화 후 blind index 계산</a:t>
            </a:r>
          </a:p>
          <a:p>
            <a:r>
              <a:rPr sz="1300">
                <a:solidFill>
                  <a:srgbClr val="D9E6FF"/>
                </a:solidFill>
                <a:latin typeface="Consolas"/>
              </a:rPr>
              <a:t>String phoneBlindIndex = passwordService.computePhoneBlindIndex(normalizePhone(phone));</a:t>
            </a:r>
          </a:p>
          <a:p>
            <a:r>
              <a:rPr sz="1300">
                <a:solidFill>
                  <a:srgbClr val="D9E6FF"/>
                </a:solidFill>
                <a:latin typeface="Consolas"/>
              </a:rPr>
              <a:t>userMapper.search(name, phoneBlindIndex, rrnBlindIndex);</a:t>
            </a:r>
          </a:p>
          <a:p>
            <a:r>
              <a:rPr sz="1300">
                <a:solidFill>
                  <a:srgbClr val="D9E6FF"/>
                </a:solidFill>
                <a:latin typeface="Consolas"/>
              </a:rPr>
              <a:t>// SQL: ... &lt;if test="phoneBlindIndex != null"&gt; and phone_blind_idx = #{phoneBlindIndex} &lt;/if&gt;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434840"/>
            <a:ext cx="11002975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222222"/>
                </a:solidFill>
              </a:rPr>
              <a:t>▸  암호화 대상이 아닌 컬럼(username)은 그냥 평문 LIKE로 부분 검색 - Blind Index 불필요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22222"/>
                </a:solidFill>
              </a:rPr>
              <a:t>▸  기존에 값이 있던 컬럼에 Blind Index를 나중에 추가하면 백필 배치 필요(복호화 → HMAC 계산 → 저장)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2331720"/>
            <a:ext cx="1371600" cy="1371600"/>
          </a:xfrm>
          <a:prstGeom prst="ellipse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2331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9C1F5"/>
                </a:solidFill>
              </a:rPr>
              <a:t>SEARCH · ONE-WAY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69748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단방향 암호화 컬럼 조건 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352044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C9D6EA"/>
                </a:solidFill>
              </a:rPr>
              <a:t>BCrypt는 조건 조회 자체가 성립하지 않는다 - 올바른 대안 패턴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300" b="1">
                <a:solidFill>
                  <a:srgbClr val="A9C1F5"/>
                </a:solidFill>
              </a:rPr>
              <a:t>ONE-WAY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4. 단방향(BCrypt) 컬럼의 올바른 조회 패턴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1100297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BCrypt는 호출마다 랜덤 솔트를 생성 - 같은 원문도 결과가 매번 다름 → WHERE password = ? 자체가 불가능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올바른 패턴: password를 조건에 넣지 않고, 다른 유일 키(user_id)로 행을 먼저 조회 후 matches()로 검증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이때도 필요 없는 다른 암호화 컬럼(id_no/phone)은 함께 select하지 않는다 - PII 문제가 로그인을 막는 것 방지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"단방향 값으로 역방향 검색"이 필요하다면 BCrypt로는 불가능 - 별도 Blind Index 필드 신설이 필요(보안 검토 선행)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160520"/>
            <a:ext cx="10972800" cy="1828800"/>
          </a:xfrm>
          <a:prstGeom prst="roundRect">
            <a:avLst/>
          </a:prstGeom>
          <a:solidFill>
            <a:srgbClr val="1E1E2A"/>
          </a:solidFill>
          <a:ln w="9525">
            <a:solidFill>
              <a:srgbClr val="3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300">
                <a:solidFill>
                  <a:srgbClr val="D9E6FF"/>
                </a:solidFill>
                <a:latin typeface="Consolas"/>
              </a:rPr>
              <a:t>@Select("select id, user_id, password, username from users where user_id = #{userId}")</a:t>
            </a:r>
          </a:p>
          <a:p>
            <a:r>
              <a:rPr sz="1300">
                <a:solidFill>
                  <a:srgbClr val="D9E6FF"/>
                </a:solidFill>
                <a:latin typeface="Consolas"/>
              </a:rPr>
              <a:t>Optional&lt;User&gt; findAuthByUserId(String userId);   // PII 컬럼은 아예 select하지 않음</a:t>
            </a:r>
          </a:p>
          <a:p>
            <a:r>
              <a:rPr sz="1300">
                <a:solidFill>
                  <a:srgbClr val="D9E6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D9E6FF"/>
                </a:solidFill>
                <a:latin typeface="Consolas"/>
              </a:rPr>
              <a:t>public boolean validateLogin(String userId, String rawPassword) {</a:t>
            </a:r>
          </a:p>
          <a:p>
            <a:r>
              <a:rPr sz="1300">
                <a:solidFill>
                  <a:srgbClr val="D9E6FF"/>
                </a:solidFill>
                <a:latin typeface="Consolas"/>
              </a:rPr>
              <a:t>    return userMapper.findAuthByUserId(userId)</a:t>
            </a:r>
          </a:p>
          <a:p>
            <a:r>
              <a:rPr sz="1300">
                <a:solidFill>
                  <a:srgbClr val="D9E6FF"/>
                </a:solidFill>
                <a:latin typeface="Consolas"/>
              </a:rPr>
              <a:t>            .map(user -&gt; passwordService.validateUserPassword(rawPassword, user.getPassword()))</a:t>
            </a:r>
          </a:p>
          <a:p>
            <a:r>
              <a:rPr sz="1300">
                <a:solidFill>
                  <a:srgbClr val="D9E6FF"/>
                </a:solidFill>
                <a:latin typeface="Consolas"/>
              </a:rPr>
              <a:t>            .orElse(false);</a:t>
            </a:r>
          </a:p>
          <a:p>
            <a:r>
              <a:rPr sz="1300">
                <a:solidFill>
                  <a:srgbClr val="D9E6F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2331720"/>
            <a:ext cx="1371600" cy="1371600"/>
          </a:xfrm>
          <a:prstGeom prst="ellipse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2331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9C1F5"/>
                </a:solidFill>
              </a:rPr>
              <a:t>CACHING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69748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Redis 캐싱을 고려한 앱 구현 방안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352044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C9D6EA"/>
                </a:solidFill>
              </a:rPr>
              <a:t>캐시에는 암호문만 - self-invocation 함정과 무효화 전략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300" b="1">
                <a:solidFill>
                  <a:srgbClr val="A9C1F5"/>
                </a:solidFill>
              </a:rPr>
              <a:t>CACHING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5. 캐싱 원칙과 self-invocation 함정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1100297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@Cacheable은 리턴값을 그대로 직렬화 저장 - 복호화된 DTO를 캐싱하면 평문 PII가 Redis에 그대로 노출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원칙: raw(ciphertext) 조회만 캐싱하고, 복호화는 캐시 조회 이후 매번 애플리케이션에서 수행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@Cacheable은 Spring 프록시로만 동작 - 같은 클래스 안에서 this로 직접 호출(self-invocation)하면</a:t>
            </a:r>
          </a:p>
          <a:p>
            <a:pPr lvl="1">
              <a:spcAft>
                <a:spcPts val="1000"/>
              </a:spcAft>
            </a:pPr>
            <a:r>
              <a:rPr sz="1350" b="0">
                <a:solidFill>
                  <a:srgbClr val="5A5A5A"/>
                </a:solidFill>
              </a:rPr>
              <a:t>-  예외/로그 없이 캐싱이 조용히 동작하지 않음 - 실제로 이 프로젝트에서 배포 후 발견한 실전 사례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해결책: 캐싱 대상 메서드를 별도 @Service 빈으로 분리해 항상 프록시를 거쳐 호출되게 만든다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300" b="1">
                <a:solidFill>
                  <a:srgbClr val="A9C1F5"/>
                </a:solidFill>
              </a:rPr>
              <a:t>CACHING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5. 구현 구조와 무효화 전략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71600"/>
            <a:ext cx="10972800" cy="2606040"/>
          </a:xfrm>
          <a:prstGeom prst="roundRect">
            <a:avLst/>
          </a:prstGeom>
          <a:solidFill>
            <a:srgbClr val="1E1E2A"/>
          </a:solidFill>
          <a:ln w="9525">
            <a:solidFill>
              <a:srgbClr val="3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200">
                <a:solidFill>
                  <a:srgbClr val="D9E6FF"/>
                </a:solidFill>
                <a:latin typeface="Consolas"/>
              </a:rPr>
              <a:t>@Service</a:t>
            </a:r>
          </a:p>
          <a:p>
            <a:r>
              <a:rPr sz="1200">
                <a:solidFill>
                  <a:srgbClr val="D9E6FF"/>
                </a:solidFill>
                <a:latin typeface="Consolas"/>
              </a:rPr>
              <a:t>public class UserSearchCacheService {          // 별도 빈 - self-invocation 회피</a:t>
            </a:r>
          </a:p>
          <a:p>
            <a:r>
              <a:rPr sz="1200">
                <a:solidFill>
                  <a:srgbClr val="D9E6FF"/>
                </a:solidFill>
                <a:latin typeface="Consolas"/>
              </a:rPr>
              <a:t>    @Cacheable(value = "userSearchRaw", key = "...")</a:t>
            </a:r>
          </a:p>
          <a:p>
            <a:r>
              <a:rPr sz="1200">
                <a:solidFill>
                  <a:srgbClr val="D9E6FF"/>
                </a:solidFill>
                <a:latin typeface="Consolas"/>
              </a:rPr>
              <a:t>    public List&lt;User&gt; search(String name, String phoneBlindIndex, String rrnBlindIndex) {</a:t>
            </a:r>
          </a:p>
          <a:p>
            <a:r>
              <a:rPr sz="1200">
                <a:solidFill>
                  <a:srgbClr val="D9E6FF"/>
                </a:solidFill>
                <a:latin typeface="Consolas"/>
              </a:rPr>
              <a:t>        return userMapper.search(name, phoneBlindIndex, rrnBlindIndex);  // ciphertext 그대로</a:t>
            </a:r>
          </a:p>
          <a:p>
            <a:r>
              <a:rPr sz="1200">
                <a:solidFill>
                  <a:srgbClr val="D9E6FF"/>
                </a:solidFill>
                <a:latin typeface="Consolas"/>
              </a:rPr>
              <a:t>    }</a:t>
            </a:r>
          </a:p>
          <a:p>
            <a:r>
              <a:rPr sz="1200">
                <a:solidFill>
                  <a:srgbClr val="D9E6FF"/>
                </a:solidFill>
                <a:latin typeface="Consolas"/>
              </a:rPr>
              <a:t>}</a:t>
            </a:r>
          </a:p>
          <a:p>
            <a:r>
              <a:rPr sz="1200">
                <a:solidFill>
                  <a:srgbClr val="D9E6FF"/>
                </a:solidFill>
                <a:latin typeface="Consolas"/>
              </a:rPr>
              <a:t>// UserService.searchCached()가 이 빈을 호출한 뒤, 캐시 적중 여부와 무관하게 매번 복호화</a:t>
            </a:r>
          </a:p>
          <a:p>
            <a:r>
              <a:rPr sz="1200">
                <a:solidFill>
                  <a:srgbClr val="D9E6FF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D9E6FF"/>
                </a:solidFill>
                <a:latin typeface="Consolas"/>
              </a:rPr>
              <a:t>@CacheEvict(value = "userSearchRaw", allEntries = true)   // 등록/수정/삭제 시 무효화</a:t>
            </a:r>
          </a:p>
          <a:p>
            <a:r>
              <a:rPr sz="1200">
                <a:solidFill>
                  <a:srgbClr val="D9E6FF"/>
                </a:solidFill>
                <a:latin typeface="Consolas"/>
              </a:rPr>
              <a:t>@Transactional</a:t>
            </a:r>
          </a:p>
          <a:p>
            <a:r>
              <a:rPr sz="1200">
                <a:solidFill>
                  <a:srgbClr val="D9E6FF"/>
                </a:solidFill>
                <a:latin typeface="Consolas"/>
              </a:rPr>
              <a:t>public Long register(UserRegisterRequestDto dto) { ...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06240"/>
            <a:ext cx="110029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 b="1">
                <a:solidFill>
                  <a:srgbClr val="222222"/>
                </a:solidFill>
              </a:rPr>
              <a:t>▸  캐시 키에도 평문 대신 Blind Index(HMAC) 사용 - Redis 키 목록 자체가 노출 경로가 되지 않도록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222222"/>
                </a:solidFill>
              </a:rPr>
              <a:t>▸  캐시 값 엔티티는 Serializable 구현 필요(기본 JDK 직렬화)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222222"/>
                </a:solidFill>
              </a:rPr>
              <a:t>▸  redis-cli 없이도 검증 가능: pg_stat_user_tables.seq_scan으로 재조회 시 DB를 다시 타는지 확인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300" b="1">
                <a:solidFill>
                  <a:srgbClr val="A9C1F5"/>
                </a:solidFill>
              </a:rPr>
              <a:t>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6. 테스트 작성법 - Vault 없이 단위 테스트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1100297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KekService(byte[] rawKekBytes) - 단일 키(버전 1)만 필요한 테스트 전용 생성자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BlindIndexService.withKey(byte[]) - provider 없이 키 직접 주입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DekProvider는 인터페이스이므로 인메모리 구현체로 대체해 실제 Vault 없이 EnvelopeCryptoService 구성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검증 대상: validate()의 정오 판정, 레거시 데이터 입력 시 예외 대신 false/대체값 반환, Blind Index의 결정성/필드별 독립성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</a:rPr>
              <a:t>▸  TypeHandler 자체는 Mock이 아니라 실제 H2 인메모리 JDBC로 검증 - 저장/조회 왕복이 실제와 동일하게 동작하는지 확인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300" b="1">
                <a:solidFill>
                  <a:srgbClr val="A9C1F5"/>
                </a:solidFill>
              </a:rPr>
              <a:t>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8. 신규 암호화 컬럼 추가 체크리스트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17320"/>
            <a:ext cx="5394960" cy="713232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250">
                <a:solidFill>
                  <a:srgbClr val="1B2A4A"/>
                </a:solidFill>
              </a:rPr>
              <a:t>① 성격 판단: 원문 재사용 필요 여부 → BCrypt vs 봉투 암호화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40280"/>
            <a:ext cx="5394960" cy="713232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250">
                <a:solidFill>
                  <a:srgbClr val="1B2A4A"/>
                </a:solidFill>
              </a:rPr>
              <a:t>② 레거시 데이터 여부 → 읽기 경로 TypeHandler 적용 가부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63240"/>
            <a:ext cx="5394960" cy="713232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250">
                <a:solidFill>
                  <a:srgbClr val="1B2A4A"/>
                </a:solidFill>
              </a:rPr>
              <a:t>③ 도메인 분리: domainCode 충돌 없이 배정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886200"/>
            <a:ext cx="5394960" cy="713232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250">
                <a:solidFill>
                  <a:srgbClr val="1B2A4A"/>
                </a:solidFill>
              </a:rPr>
              <a:t>④ 검색 요건 → Blind Index 컬럼/키 추가 여부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709160"/>
            <a:ext cx="5394960" cy="713232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250">
                <a:solidFill>
                  <a:srgbClr val="1B2A4A"/>
                </a:solidFill>
              </a:rPr>
              <a:t>⑤ 불필요한 조회 배제(로그인 등 전용 메서드 분리)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532120"/>
            <a:ext cx="5394960" cy="713232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250">
                <a:solidFill>
                  <a:srgbClr val="1B2A4A"/>
                </a:solidFill>
              </a:rPr>
              <a:t>⑥ 목록 조회 대비: raw + 행별 복호화 패턴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17320"/>
            <a:ext cx="5394960" cy="713232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250">
                <a:solidFill>
                  <a:srgbClr val="1B2A4A"/>
                </a:solidFill>
              </a:rPr>
              <a:t>⑦ 캐싱 계획: raw만 캐싱, 별도 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240280"/>
            <a:ext cx="5394960" cy="713232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250">
                <a:solidFill>
                  <a:srgbClr val="1B2A4A"/>
                </a:solidFill>
              </a:rPr>
              <a:t>⑧ UPDATE 부분 갱신 시 이중 암호화 방지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063240"/>
            <a:ext cx="5394960" cy="713232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250">
                <a:solidFill>
                  <a:srgbClr val="1B2A4A"/>
                </a:solidFill>
              </a:rPr>
              <a:t>⑨ 재암호화/로테이션 대비 *Raw 메서드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886200"/>
            <a:ext cx="5394960" cy="713232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250">
                <a:solidFill>
                  <a:srgbClr val="1B2A4A"/>
                </a:solidFill>
              </a:rPr>
              <a:t>⑩ 기존 데이터 백필 계획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709160"/>
            <a:ext cx="5394960" cy="713232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250">
                <a:solidFill>
                  <a:srgbClr val="1B2A4A"/>
                </a:solidFill>
              </a:rPr>
              <a:t>⑪ Vault 없는 단위 테스트 작성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5532120"/>
            <a:ext cx="5394960" cy="713232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250">
                <a:solidFill>
                  <a:srgbClr val="1B2A4A"/>
                </a:solidFill>
              </a:rPr>
              <a:t>⑫ 문서화(가이드 갱신)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2E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300" b="1">
                <a:solidFill>
                  <a:srgbClr val="A9C1F5"/>
                </a:solidFill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9. 흔한 실수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20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1417320"/>
          <a:ext cx="109728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303520"/>
                <a:gridCol w="5029200"/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실수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증상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392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</a:rPr>
                        <a:t>레거시 데이터 컬럼 읽기 경로에 TypeHandler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</a:rPr>
                        <a:t>목록/상세 조회 CryptoException으로 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392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</a:rPr>
                        <a:t>바뀌지 않은 암호문을 UPDATE typeHandler에 재통과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</a:rPr>
                        <a:t>조용히 이중 암호화 → 복호화 불가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392B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</a:rPr>
                        <a:t>로그인처럼 불필요한 곳에서 PII 컬럼 select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</a:rPr>
                        <a:t>무관한 계정 문제가 로그인을 막음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392B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</a:rPr>
                        <a:t>목록 조회에 읽기 경로 TypeHandler 적용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</a:rPr>
                        <a:t>행 1개 문제로 전체 목록 500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392B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</a:rPr>
                        <a:t>@Cacheable 메서드를 this로 self-invocation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</a:rPr>
                        <a:t>예외 없이 캐싱이 조용히 미동작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392B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</a:rPr>
                        <a:t>BCrypt(단방향) 컬럼을 조건 조회 시도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</a:rPr>
                        <a:t>원천적으로 매치 불가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392B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</a:rPr>
                        <a:t>Blind Index 저장/검색 정규화 방식 불일치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</a:rPr>
                        <a:t>조용히 검색 실패(에러 없음)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관련 문서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731520"/>
          </a:xfrm>
          <a:prstGeom prst="roundRect">
            <a:avLst/>
          </a:prstGeom>
          <a:solidFill>
            <a:srgbClr val="24355C"/>
          </a:solidFill>
          <a:ln w="9525">
            <a:solidFill>
              <a:srgbClr val="2E6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b="1" sz="1450">
                <a:solidFill>
                  <a:srgbClr val="A9C1F5"/>
                </a:solidFill>
              </a:rPr>
              <a:t>VAULT_CRYPTO_DEV_GUIDE.md  —  </a:t>
            </a:r>
            <a:r>
              <a:rPr sz="1350">
                <a:solidFill>
                  <a:srgbClr val="FFFFFF"/>
                </a:solidFill>
              </a:rPr>
              <a:t>이 발표의 원본 - 전체 개발 가이드(설정/CRUD/검색/캐싱/테스트)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39"/>
            <a:ext cx="10515600" cy="731520"/>
          </a:xfrm>
          <a:prstGeom prst="roundRect">
            <a:avLst/>
          </a:prstGeom>
          <a:solidFill>
            <a:srgbClr val="24355C"/>
          </a:solidFill>
          <a:ln w="9525">
            <a:solidFill>
              <a:srgbClr val="2E6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b="1" sz="1450">
                <a:solidFill>
                  <a:srgbClr val="A9C1F5"/>
                </a:solidFill>
              </a:rPr>
              <a:t>ENCRYPTED_COLUMN_QUERY_GUIDE.md  —  </a:t>
            </a:r>
            <a:r>
              <a:rPr sz="1350">
                <a:solidFill>
                  <a:srgbClr val="FFFFFF"/>
                </a:solidFill>
              </a:rPr>
              <a:t>조회 상황별 패턴과 실전 실수 사례 상세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474720"/>
            <a:ext cx="10515600" cy="731520"/>
          </a:xfrm>
          <a:prstGeom prst="roundRect">
            <a:avLst/>
          </a:prstGeom>
          <a:solidFill>
            <a:srgbClr val="24355C"/>
          </a:solidFill>
          <a:ln w="9525">
            <a:solidFill>
              <a:srgbClr val="2E6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b="1" sz="1450">
                <a:solidFill>
                  <a:srgbClr val="A9C1F5"/>
                </a:solidFill>
              </a:rPr>
              <a:t>KEY_ROTATION_RUNBOOK.md  —  </a:t>
            </a:r>
            <a:r>
              <a:rPr sz="1350">
                <a:solidFill>
                  <a:srgbClr val="FFFFFF"/>
                </a:solidFill>
              </a:rPr>
              <a:t>KEK/DEK 로테이션 운영 절차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343400"/>
            <a:ext cx="10515600" cy="731520"/>
          </a:xfrm>
          <a:prstGeom prst="roundRect">
            <a:avLst/>
          </a:prstGeom>
          <a:solidFill>
            <a:srgbClr val="24355C"/>
          </a:solidFill>
          <a:ln w="9525">
            <a:solidFill>
              <a:srgbClr val="2E6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b="1" sz="1450">
                <a:solidFill>
                  <a:srgbClr val="A9C1F5"/>
                </a:solidFill>
              </a:rPr>
              <a:t>KEK_DEK_ENCRYPTION_PLAN.md  —  </a:t>
            </a:r>
            <a:r>
              <a:rPr sz="1350">
                <a:solidFill>
                  <a:srgbClr val="FFFFFF"/>
                </a:solidFill>
              </a:rPr>
              <a:t>전체 암호화 아키텍처 도입 배경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12079"/>
            <a:ext cx="10515600" cy="731520"/>
          </a:xfrm>
          <a:prstGeom prst="roundRect">
            <a:avLst/>
          </a:prstGeom>
          <a:solidFill>
            <a:srgbClr val="24355C"/>
          </a:solidFill>
          <a:ln w="9525">
            <a:solidFill>
              <a:srgbClr val="2E6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b="1" sz="1450">
                <a:solidFill>
                  <a:srgbClr val="A9C1F5"/>
                </a:solidFill>
              </a:rPr>
              <a:t>vault-crypto/README.md  —  </a:t>
            </a:r>
            <a:r>
              <a:rPr sz="1350">
                <a:solidFill>
                  <a:srgbClr val="FFFFFF"/>
                </a:solidFill>
              </a:rPr>
              <a:t>라이브러리 자체 API 레퍼런스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vault-crypto 기반 DB 컬럼 암호화 개발 가이드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